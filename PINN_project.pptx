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6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21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</c:v>
                </c:pt>
              </c:strCache>
            </c:strRef>
          </c:tx>
          <c:spPr>
            <a:solidFill>
              <a:srgbClr val="23C4A8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0.4 m/s
(20-tooth)</c:v>
                </c:pt>
                <c:pt idx="1">
                  <c:v>0.8 m/s
(40-tooth)</c:v>
                </c:pt>
                <c:pt idx="2">
                  <c:v>1.2 m/s
(60-tooth)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0.33</c:v>
                </c:pt>
                <c:pt idx="2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78-9642-B421-44BA9DCF78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3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95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Title, one-line summary, introduce yourself and your mentor Burçin Ünlü. The one-liner already signals the headline: the simulation caught an infeasible hardware design before the rig was built.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as F=ma for the whole system: inertia, its own swinging, and gravity on the left; one motor on the right. Point at B=[1,0,0] — the motor only touches the cart, that's what underactuated means and why it's hard. Then: because the equation is differentiable, it becomes the simulator everything else is built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Simulation: differentiable plant plus a CasADi MPC teacher, and four training signals — imitation plus three physics-based ones. Application: state plus physical parameters to one voltage in a single forward pass, ~26 thousand multiply-adds, which is why it fits an ESP32 and MPC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this: everything failed closed-loop, including the teacher. That looked like a broken project until the diagnostic — cart velocity pinned at exactly the motor's top speed in every failed run. Sweeping only the speed ceiling: at 0.4 m/s nothing balances, at 1.2 m/s it does. The gearing was the problem: 173 newtons to move a 1.5 kg cart is absurd overkill while the speed starves. The simulation caught an infeasible hardware spec before the rig was finished — that is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honest finding, one limitation, one next step. The finding is the hardware verdict — the simulation earned its keep by catching an infeasible design before it was built. Then own the limitation without hedging: the learned controller does not balance yet, LQR beats it, and DAgger improving validation by 31% without changing closed-loop behaviour tells me the bottleneck is not imitation quality. That is a real diagnostic lead, not an excuse. End on it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12161520" cy="2697480"/>
          </a:xfrm>
          <a:prstGeom prst="rect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2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RESEARCH PROGRAM · ÖZYEĞİN UNIVERSITY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cs typeface="Calibri" pitchFamily="34" charset="-120"/>
              </a:rPr>
              <a:t>29.07.2026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network, many pendulums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physics-informed neural network that learns Model-Predictive Control for a double inverted pendulum — and, before the rig was finished, showed that the motor gearing made balancing physically impossible.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Çağlar Ayyıldız</a:t>
            </a: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Student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Burçin Ünlü</a:t>
            </a: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Mentor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4406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1005840" y="55961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C4A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37360" y="5596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54406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3840480" y="55961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C4A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5596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54406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6675120" y="55961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C4A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406640" y="5596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0" y="54406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/>
          <p:nvPr/>
        </p:nvSpPr>
        <p:spPr>
          <a:xfrm>
            <a:off x="9509760" y="55961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C4A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241280" y="5596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Theoretical foundation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phenomenon are you studying, and what question are you asking?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PHENOMENON — WHY IT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4688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 carrying two stacked pendulums is unstable and underactuated: one motor must fight gravity on two links at once. It is the classic hard testbed for nonlinear control.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3520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8404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single network, given the pendulum's physical parameters (m₁,m₂,l₁,l₂), learn an MPC-equivalent controller that generalizes to pendulum shapes never solved during training, without retraining?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4983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KNOWN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53035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MPC balances such pendulums well but must be re-solved for every new configuration; imitation learning (DAgger, Ross 2011) distills a controller into a fast network, and physics-informed NNs (Raissi 2019) forces the network to stay in the boundaries of physics, this project combines all three.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66560" y="2148840"/>
            <a:ext cx="4709160" cy="379476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7086600" y="23774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278892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M(q,p) q̈  +  C(q,q̇,p) q̇  +  G(q,p)  =  B 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86600" y="3520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Euler–Lagrange equations of motion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0" y="39776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 s, θ₁, θ₂ ]   state:  cart pos. [m], link angles from vertical [rad]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86600" y="44622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  motor command — voltage [V], bounded to the ±24 V bus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86600" y="494690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[ m₁, m₂, l₁, l₂ ]   masses [kg], lengths [m] — the network's inputs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86600" y="54315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M, C, G   inertia / Coriolis / gravity;   — only the cart is driven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RESEARCH PROGRAM · Özyeğin University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EB84CD4-AAA8-622D-7375-E4EA5828A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182" y="90335"/>
            <a:ext cx="2207330" cy="19558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160A921-C39D-95DF-946E-E8DD1005D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2766263"/>
            <a:ext cx="4050792" cy="6283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1102244-4C41-D447-B82F-BCB6C1D7B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580" y="2662070"/>
            <a:ext cx="4407408" cy="773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SIMULATION  /  03 · APPLICATION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Simulation and application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model it, and what did you build?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5806440" cy="3931920"/>
          </a:xfrm>
          <a:prstGeom prst="roundRect">
            <a:avLst>
              <a:gd name="adj" fmla="val 1860"/>
            </a:avLst>
          </a:prstGeom>
          <a:solidFill>
            <a:srgbClr val="F1F5F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932688" y="22860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SIMULATION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&amp; tools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98648" y="26974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differentiable dynamics + CasADi/IPOPT MPC teacher; RK4 integration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signals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98648" y="4069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L_data (imitate MPC) · L_physics (roll commands through the real dynamics) · L_barrier (limits) · L_EL (collocation), annealed data→physics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53492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MPC is ground truth · idealized friction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103120"/>
            <a:ext cx="4754880" cy="3931920"/>
          </a:xfrm>
          <a:prstGeom prst="roundRect">
            <a:avLst>
              <a:gd name="adj" fmla="val 1860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699516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APPLICATION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2697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does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95160" y="30175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6995160" y="3017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states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params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64040" y="301752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23C4A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9464040" y="3017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voltage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9516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95160" y="48463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self-contained checkpoint, call </a:t>
            </a:r>
            <a:r>
              <a:rPr lang="en-US" sz="1200" b="1" dirty="0">
                <a:solidFill>
                  <a:srgbClr val="23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model(state, params)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step. Swap in different (m, l) to control a new pendulum and it shouldn’t need a retraining.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RESEARCH PROGRAM · Özyeğin University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PROTOTYPE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Prototype and results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build or measure, and what did you find?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1084478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first closed-loop evaluation failed for every controller including the MPC teacher. The cause was the physical limitations I was trying to set into physics because of my rig and with the correct changes I was able to solve the problem.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Cart-speed ceiling vs. ability to balance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MPC teacher from near-upright, 3 initial conditions each (n=3)</a:t>
            </a:r>
            <a:endParaRPr lang="en-US" sz="10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58368" y="3749040"/>
          <a:ext cx="53949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355080" y="3200400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gearing trades force for speed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64808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GT2 pulley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21040" y="354787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v_max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418320" y="35478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378440" y="35478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55080" y="3840480"/>
            <a:ext cx="5148072" cy="475488"/>
          </a:xfrm>
          <a:prstGeom prst="roundRect">
            <a:avLst>
              <a:gd name="adj" fmla="val 9615"/>
            </a:avLst>
          </a:prstGeom>
          <a:solidFill>
            <a:srgbClr val="F1F5F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7" name="Text 14"/>
          <p:cNvSpPr/>
          <p:nvPr/>
        </p:nvSpPr>
        <p:spPr>
          <a:xfrm>
            <a:off x="6464808" y="3913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20-tooth (original)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21040" y="39136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 m/s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0" y="39136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78440" y="39136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m/s²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55080" y="4370832"/>
            <a:ext cx="5148072" cy="475488"/>
          </a:xfrm>
          <a:prstGeom prst="roundRect">
            <a:avLst>
              <a:gd name="adj" fmla="val 9615"/>
            </a:avLst>
          </a:prstGeom>
          <a:solidFill>
            <a:srgbClr val="E8FAF5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/>
          <p:nvPr/>
        </p:nvSpPr>
        <p:spPr>
          <a:xfrm>
            <a:off x="6464808" y="4443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60-tooth (revised)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444398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 m/s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18320" y="44439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378440" y="44439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m/s²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RESEARCH PROGRAM · Özyeğin University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001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4577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Conclusions and next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0853" y="1040130"/>
            <a:ext cx="4467445" cy="2194560"/>
          </a:xfrm>
          <a:prstGeom prst="roundRect">
            <a:avLst>
              <a:gd name="adj" fmla="val 2909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935174" y="1268730"/>
            <a:ext cx="3780146" cy="3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5174" y="1725930"/>
            <a:ext cx="3780146" cy="1476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end-to-end, and its most useful output was a hardware verdict: the 20-tooth gearing makes balancing infeasible; 60-tooth (1.2 m/s) lets the MPC teacher balance. At the corrected spec every config now solves — 200/200, zero dropped.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8848" y="3372681"/>
            <a:ext cx="4433568" cy="1723102"/>
          </a:xfrm>
          <a:prstGeom prst="roundRect">
            <a:avLst>
              <a:gd name="adj" fmla="val 2909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978174" y="3504851"/>
            <a:ext cx="3751480" cy="250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174" y="3849505"/>
            <a:ext cx="3751480" cy="1159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controller still does not balance every time. It holds the links near upright but drifts off the rail. DAgger cut validation error 31% without fixing it so imitation quality is not the bottleneck. The problem is physical rig.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79066" y="1099380"/>
            <a:ext cx="5776614" cy="3877114"/>
          </a:xfrm>
          <a:prstGeom prst="roundRect">
            <a:avLst>
              <a:gd name="adj" fmla="val 2909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TR" dirty="0"/>
          </a:p>
        </p:txBody>
      </p:sp>
      <p:sp>
        <p:nvSpPr>
          <p:cNvPr id="13" name="Text 11"/>
          <p:cNvSpPr/>
          <p:nvPr/>
        </p:nvSpPr>
        <p:spPr>
          <a:xfrm>
            <a:off x="658605" y="5067933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605" y="5387973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Raissi, Perdikaris &amp; Karniadakis — Physics-Informed Neural Networks, 2019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Ross, Gordon &amp; Bagnell — DAgger (imitation learning), 2011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Andersson et al. — CasADi (nonlinear optimization / MPC), 2019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44128" y="5230368"/>
            <a:ext cx="3547872" cy="1508760"/>
          </a:xfrm>
          <a:prstGeom prst="roundRect">
            <a:avLst>
              <a:gd name="adj" fmla="val 4848"/>
            </a:avLst>
          </a:prstGeom>
          <a:solidFill>
            <a:srgbClr val="23C4A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8872728" y="5504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 — questions?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72728" y="6053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caglarayyildiz08@gmail.com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72728" y="6373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Çağlar Ayyıldız · Mentor: Burçin Ünlü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RESEARCH PROGRAM · Özyeğin University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0A33C37-A030-F8B5-D32F-05B032CF1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98" y="1256028"/>
            <a:ext cx="4808222" cy="36061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1170</Words>
  <Application>Microsoft Macintosh PowerPoint</Application>
  <PresentationFormat>Widescreen</PresentationFormat>
  <Paragraphs>98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(27) Caglar Ayyildiz</cp:lastModifiedBy>
  <cp:revision>3</cp:revision>
  <dcterms:created xsi:type="dcterms:W3CDTF">2026-07-29T01:39:39Z</dcterms:created>
  <dcterms:modified xsi:type="dcterms:W3CDTF">2026-07-29T08:36:42Z</dcterms:modified>
</cp:coreProperties>
</file>